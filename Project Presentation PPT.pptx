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Inter ExtraBold"/>
      <p:bold r:id="rId27"/>
      <p:boldItalic r:id="rId28"/>
    </p:embeddedFont>
    <p:embeddedFont>
      <p:font typeface="Roboto Mono"/>
      <p:bold r:id="rId29"/>
      <p:boldItalic r:id="rId30"/>
    </p:embeddedFont>
    <p:embeddedFont>
      <p:font typeface="Inter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InterExtraBold-boldItalic.fntdata"/><Relationship Id="rId27" Type="http://schemas.openxmlformats.org/officeDocument/2006/relationships/font" Target="fonts/InterExtraBold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Medium-regular.fntdata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Medium-italic.fntdata"/><Relationship Id="rId10" Type="http://schemas.openxmlformats.org/officeDocument/2006/relationships/slide" Target="slides/slide4.xml"/><Relationship Id="rId32" Type="http://schemas.openxmlformats.org/officeDocument/2006/relationships/font" Target="fonts/InterMedium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Inter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a72ab4e89_0_55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a72ab4e89_0_78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a72ab4e89_0_32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a72ab4e89_0_9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a72ab4e89_0_101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a72ab4e89_0_221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a72ab4e89_0_189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a72ab4e89_0_138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a72ab4e89_0_157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a72ab4e89_0_260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a72ab4e89_0_120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a72ab4e89_0_278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874750" y="-1217400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">
  <p:cSld name="Generated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3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3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Relationship Id="rId9" Type="http://schemas.openxmlformats.org/officeDocument/2006/relationships/image" Target="../media/image33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Relationship Id="rId8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dark, futuristic digital background with subtle interconnected nodes and neural network patterns. Dark blue and charcoal tones, very clean and professional." id="87" name="Google Shape;8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752475"/>
            <a:ext cx="83820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381000" y="1905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Explainability Bottleneck</a:t>
            </a:r>
            <a:endParaRPr b="1"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16"/>
          <p:cNvGrpSpPr/>
          <p:nvPr/>
        </p:nvGrpSpPr>
        <p:grpSpPr>
          <a:xfrm>
            <a:off x="381000" y="1047750"/>
            <a:ext cx="4191000" cy="952500"/>
            <a:chOff x="381000" y="1047750"/>
            <a:chExt cx="4191000" cy="952500"/>
          </a:xfrm>
        </p:grpSpPr>
        <p:sp>
          <p:nvSpPr>
            <p:cNvPr id="91" name="Google Shape;91;p16"/>
            <p:cNvSpPr/>
            <p:nvPr/>
          </p:nvSpPr>
          <p:spPr>
            <a:xfrm>
              <a:off x="381000" y="1047750"/>
              <a:ext cx="4191000" cy="952500"/>
            </a:xfrm>
            <a:prstGeom prst="roundRect">
              <a:avLst>
                <a:gd fmla="val 8000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6"/>
            <p:cNvSpPr txBox="1"/>
            <p:nvPr/>
          </p:nvSpPr>
          <p:spPr>
            <a:xfrm>
              <a:off x="476250" y="1095375"/>
              <a:ext cx="4000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D700"/>
                  </a:solidFill>
                  <a:latin typeface="Calibri"/>
                  <a:ea typeface="Calibri"/>
                  <a:cs typeface="Calibri"/>
                  <a:sym typeface="Calibri"/>
                </a:rPr>
                <a:t>Opaque DNNs</a:t>
              </a:r>
              <a:endParaRPr b="1" sz="18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E0E0E0"/>
                  </a:solidFill>
                  <a:latin typeface="Calibri"/>
                  <a:ea typeface="Calibri"/>
                  <a:cs typeface="Calibri"/>
                  <a:sym typeface="Calibri"/>
                </a:rPr>
                <a:t>Deep Neural Networks are powerful "black boxes," making their internal logic inaccessible.</a:t>
              </a:r>
              <a:endParaRPr b="0" sz="1300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6"/>
          <p:cNvGrpSpPr/>
          <p:nvPr/>
        </p:nvGrpSpPr>
        <p:grpSpPr>
          <a:xfrm>
            <a:off x="381000" y="2190750"/>
            <a:ext cx="4191000" cy="952500"/>
            <a:chOff x="381000" y="2190750"/>
            <a:chExt cx="4191000" cy="952500"/>
          </a:xfrm>
        </p:grpSpPr>
        <p:sp>
          <p:nvSpPr>
            <p:cNvPr id="94" name="Google Shape;94;p16"/>
            <p:cNvSpPr/>
            <p:nvPr/>
          </p:nvSpPr>
          <p:spPr>
            <a:xfrm>
              <a:off x="381000" y="2190750"/>
              <a:ext cx="4191000" cy="952500"/>
            </a:xfrm>
            <a:prstGeom prst="roundRect">
              <a:avLst>
                <a:gd fmla="val 8000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476250" y="2238375"/>
              <a:ext cx="4000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D700"/>
                  </a:solidFill>
                  <a:latin typeface="Calibri"/>
                  <a:ea typeface="Calibri"/>
                  <a:cs typeface="Calibri"/>
                  <a:sym typeface="Calibri"/>
                </a:rPr>
                <a:t>Computational Cost</a:t>
              </a:r>
              <a:endParaRPr b="1" sz="18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E0E0E0"/>
                  </a:solidFill>
                  <a:latin typeface="Calibri"/>
                  <a:ea typeface="Calibri"/>
                  <a:cs typeface="Calibri"/>
                  <a:sym typeface="Calibri"/>
                </a:rPr>
                <a:t>SHAP provides faithful attribution but is impractically slow for real-time applications.</a:t>
              </a:r>
              <a:endParaRPr b="0" sz="1300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6"/>
          <p:cNvGrpSpPr/>
          <p:nvPr/>
        </p:nvGrpSpPr>
        <p:grpSpPr>
          <a:xfrm>
            <a:off x="381000" y="3333750"/>
            <a:ext cx="4191000" cy="1143000"/>
            <a:chOff x="381000" y="3333750"/>
            <a:chExt cx="4191000" cy="1143000"/>
          </a:xfrm>
        </p:grpSpPr>
        <p:sp>
          <p:nvSpPr>
            <p:cNvPr id="97" name="Google Shape;97;p16"/>
            <p:cNvSpPr/>
            <p:nvPr/>
          </p:nvSpPr>
          <p:spPr>
            <a:xfrm>
              <a:off x="381000" y="3333750"/>
              <a:ext cx="4191000" cy="1143000"/>
            </a:xfrm>
            <a:prstGeom prst="roundRect">
              <a:avLst>
                <a:gd fmla="val 6666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476250" y="3381375"/>
              <a:ext cx="4000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D700"/>
                  </a:solidFill>
                  <a:latin typeface="Calibri"/>
                  <a:ea typeface="Calibri"/>
                  <a:cs typeface="Calibri"/>
                  <a:sym typeface="Calibri"/>
                </a:rPr>
                <a:t>High-Stakes Demand</a:t>
              </a:r>
              <a:endParaRPr b="1" sz="18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E0E0E0"/>
                  </a:solidFill>
                  <a:latin typeface="Calibri"/>
                  <a:ea typeface="Calibri"/>
                  <a:cs typeface="Calibri"/>
                  <a:sym typeface="Calibri"/>
                </a:rPr>
                <a:t>Real-time explanations are critical for healthcare, finance, and regulatory compliance.</a:t>
              </a:r>
              <a:endParaRPr b="0" sz="1300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6"/>
          <p:cNvGrpSpPr/>
          <p:nvPr/>
        </p:nvGrpSpPr>
        <p:grpSpPr>
          <a:xfrm>
            <a:off x="4857750" y="1047750"/>
            <a:ext cx="3810000" cy="3524400"/>
            <a:chOff x="4857750" y="1047750"/>
            <a:chExt cx="3810000" cy="3524400"/>
          </a:xfrm>
        </p:grpSpPr>
        <p:sp>
          <p:nvSpPr>
            <p:cNvPr id="100" name="Google Shape;100;p16"/>
            <p:cNvSpPr/>
            <p:nvPr/>
          </p:nvSpPr>
          <p:spPr>
            <a:xfrm>
              <a:off x="4857750" y="1047750"/>
              <a:ext cx="3810000" cy="3524400"/>
            </a:xfrm>
            <a:prstGeom prst="roundRect">
              <a:avLst>
                <a:gd fmla="val 3243" name="adj"/>
              </a:avLst>
            </a:prstGeom>
            <a:solidFill>
              <a:srgbClr val="111111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4857750" y="109537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SHAP COMPLEXITY: FEATURES VS. COST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2" name="Google Shape;102;p16"/>
            <p:cNvPicPr preferRelativeResize="0"/>
            <p:nvPr/>
          </p:nvPicPr>
          <p:blipFill rotWithShape="1">
            <a:blip r:embed="rId5">
              <a:alphaModFix/>
            </a:blip>
            <a:srcRect b="0" l="0" r="0" t="-1585"/>
            <a:stretch/>
          </p:blipFill>
          <p:spPr>
            <a:xfrm>
              <a:off x="4953000" y="1333500"/>
              <a:ext cx="3619500" cy="3048000"/>
            </a:xfrm>
            <a:prstGeom prst="roundRect">
              <a:avLst>
                <a:gd fmla="val 3125" name="adj"/>
              </a:avLst>
            </a:prstGeom>
            <a:noFill/>
            <a:ln>
              <a:noFill/>
            </a:ln>
          </p:spPr>
        </p:pic>
        <p:pic>
          <p:nvPicPr>
            <p:cNvPr id="103" name="Google Shape;103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943475" y="1371600"/>
              <a:ext cx="3638700" cy="3019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16"/>
          <p:cNvSpPr/>
          <p:nvPr/>
        </p:nvSpPr>
        <p:spPr>
          <a:xfrm>
            <a:off x="381000" y="4667250"/>
            <a:ext cx="857400" cy="228600"/>
          </a:xfrm>
          <a:prstGeom prst="roundRect">
            <a:avLst>
              <a:gd fmla="val 50000" name="adj"/>
            </a:avLst>
          </a:prstGeom>
          <a:solidFill>
            <a:srgbClr val="FFD7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81000" y="4667250"/>
            <a:ext cx="8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A202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SHAP: Fairness Through Game Theory</a:t>
            </a:r>
            <a:endParaRPr b="0" sz="2800">
              <a:solidFill>
                <a:srgbClr val="1A202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381000" y="1238250"/>
            <a:ext cx="3619500" cy="1476300"/>
          </a:xfrm>
          <a:prstGeom prst="roundRect">
            <a:avLst>
              <a:gd fmla="val 774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504825" y="1362075"/>
            <a:ext cx="228600" cy="228600"/>
          </a:xfrm>
          <a:prstGeom prst="ellipse">
            <a:avLst/>
          </a:prstGeom>
          <a:solidFill>
            <a:srgbClr val="4299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552450" y="1362075"/>
            <a:ext cx="1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1" sz="98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809625" y="1381125"/>
            <a:ext cx="30003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2D374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Mathematical Origins</a:t>
            </a:r>
            <a:endParaRPr b="0" sz="1600">
              <a:solidFill>
                <a:srgbClr val="2D374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SHAP (Shapley Additive Explanations) is rooted in </a:t>
            </a:r>
            <a:r>
              <a:rPr b="1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cooperative Game Theory</a:t>
            </a: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, specifically the work of Lloyd Shapley.</a:t>
            </a:r>
            <a:endParaRPr b="0" sz="12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381000" y="2905125"/>
            <a:ext cx="3619500" cy="1476300"/>
          </a:xfrm>
          <a:prstGeom prst="roundRect">
            <a:avLst>
              <a:gd fmla="val 774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504825" y="3028950"/>
            <a:ext cx="228600" cy="228600"/>
          </a:xfrm>
          <a:prstGeom prst="ellipse">
            <a:avLst/>
          </a:prstGeom>
          <a:solidFill>
            <a:srgbClr val="4299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552450" y="3028950"/>
            <a:ext cx="1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1" sz="98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809625" y="3048000"/>
            <a:ext cx="30003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2D374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"Fair" Allocation</a:t>
            </a:r>
            <a:endParaRPr b="0" sz="1600">
              <a:solidFill>
                <a:srgbClr val="2D374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It provides a mathematically </a:t>
            </a:r>
            <a:r>
              <a:rPr b="1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fair credit allocation</a:t>
            </a: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for each individual input's contribution to a prediction.</a:t>
            </a:r>
            <a:endParaRPr b="0" sz="12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4191000" y="1238250"/>
            <a:ext cx="4572000" cy="31434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4381500" y="14287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A0AEC0"/>
                </a:solidFill>
                <a:latin typeface="Roboto Mono"/>
                <a:ea typeface="Roboto Mono"/>
                <a:cs typeface="Roboto Mono"/>
                <a:sym typeface="Roboto Mono"/>
              </a:rPr>
              <a:t>VISUAL EVIDENCE: FEATURE IMPORTANCE</a:t>
            </a:r>
            <a:endParaRPr b="1" sz="800">
              <a:solidFill>
                <a:srgbClr val="A0AEC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descr="A high-quality, professional data visualization of a SHAP feature importance bar chart. The bars should be clean, in shades of blue and charcoal, showing feature names like 'age', 'education', and 'capital gain' on the y-axis and mean absolute SHAP value on the x-axis. Soft grid lines, white background." id="121" name="Google Shape;121;p17"/>
          <p:cNvPicPr preferRelativeResize="0"/>
          <p:nvPr/>
        </p:nvPicPr>
        <p:blipFill rotWithShape="1">
          <a:blip r:embed="rId4">
            <a:alphaModFix/>
          </a:blip>
          <a:srcRect b="-7691" l="-2139" r="-1703" t="-19228"/>
          <a:stretch/>
        </p:blipFill>
        <p:spPr>
          <a:xfrm>
            <a:off x="4191000" y="1238250"/>
            <a:ext cx="4572000" cy="3143400"/>
          </a:xfrm>
          <a:prstGeom prst="roundRect">
            <a:avLst>
              <a:gd fmla="val 3636" name="adj"/>
            </a:avLst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4381500" y="4429125"/>
            <a:ext cx="419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A0AEC0"/>
                </a:solidFill>
                <a:latin typeface="Roboto Mono"/>
                <a:ea typeface="Roboto Mono"/>
                <a:cs typeface="Roboto Mono"/>
                <a:sym typeface="Roboto Mono"/>
              </a:rPr>
              <a:t>Figure 1: Attribution of model prediction back to inputs</a:t>
            </a:r>
            <a:endParaRPr b="1" sz="800">
              <a:solidFill>
                <a:srgbClr val="A0AEC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A202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InstaSHAP Workaround</a:t>
            </a:r>
            <a:endParaRPr b="0" sz="2800">
              <a:solidFill>
                <a:srgbClr val="1A202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381000" y="1238250"/>
            <a:ext cx="3619500" cy="9525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504825" y="1362075"/>
            <a:ext cx="228600" cy="228600"/>
          </a:xfrm>
          <a:prstGeom prst="ellipse">
            <a:avLst/>
          </a:prstGeom>
          <a:solidFill>
            <a:srgbClr val="4299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809625" y="1381125"/>
            <a:ext cx="30003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2D374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Training-Time Shift</a:t>
            </a:r>
            <a:endParaRPr b="0" sz="1600">
              <a:solidFill>
                <a:srgbClr val="2D374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Moves heavy computation from inference to training time.</a:t>
            </a:r>
            <a:endParaRPr b="0" sz="12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381000" y="2333625"/>
            <a:ext cx="3619500" cy="9525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504825" y="2457450"/>
            <a:ext cx="228600" cy="228600"/>
          </a:xfrm>
          <a:prstGeom prst="ellipse">
            <a:avLst/>
          </a:prstGeom>
          <a:solidFill>
            <a:srgbClr val="4299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809625" y="2476500"/>
            <a:ext cx="30003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2D374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Surrogate Modeling</a:t>
            </a:r>
            <a:endParaRPr b="0" sz="1600">
              <a:solidFill>
                <a:srgbClr val="2D374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Trains an additive model specifically to match SHAP values.</a:t>
            </a:r>
            <a:endParaRPr b="0" sz="12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381000" y="3429000"/>
            <a:ext cx="3619500" cy="9525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504825" y="3552825"/>
            <a:ext cx="228600" cy="228600"/>
          </a:xfrm>
          <a:prstGeom prst="ellipse">
            <a:avLst/>
          </a:prstGeom>
          <a:solidFill>
            <a:srgbClr val="4299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809625" y="3571875"/>
            <a:ext cx="30003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2D374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Zero Overhead</a:t>
            </a:r>
            <a:endParaRPr b="0" sz="1600">
              <a:solidFill>
                <a:srgbClr val="2D374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Achieves zero inference-time overhead for explanations.</a:t>
            </a:r>
            <a:endParaRPr b="0" sz="12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4191000" y="1238250"/>
            <a:ext cx="4572000" cy="31434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4381500" y="14287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A0AEC0"/>
                </a:solidFill>
                <a:latin typeface="Roboto Mono"/>
                <a:ea typeface="Roboto Mono"/>
                <a:cs typeface="Roboto Mono"/>
                <a:sym typeface="Roboto Mono"/>
              </a:rPr>
              <a:t>CONCEPTUAL FLOW: INSTANT EXPLANATIONS</a:t>
            </a:r>
            <a:endParaRPr b="1" sz="800">
              <a:solidFill>
                <a:srgbClr val="A0AEC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descr="A high-tech, clean visualization of a machine learning workflow. On the left, a 'Training' gear icon connecting to a 'Surrogate Model' box. On the right, a 'Fast Forward' icon leading to 'Instant SHAP Values'. Minimalist, blue and white professional design."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4171" r="4162" t="0"/>
          <a:stretch/>
        </p:blipFill>
        <p:spPr>
          <a:xfrm>
            <a:off x="4381500" y="1809750"/>
            <a:ext cx="4191000" cy="2571900"/>
          </a:xfrm>
          <a:prstGeom prst="roundRect">
            <a:avLst>
              <a:gd fmla="val 296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20">
                <a:solidFill>
                  <a:srgbClr val="1A202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Shapley Kernel: Mathematical Optimality</a:t>
            </a:r>
            <a:endParaRPr b="0" sz="2720">
              <a:solidFill>
                <a:srgbClr val="1A202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381000" y="1333500"/>
            <a:ext cx="3429000" cy="152400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381000" y="3048000"/>
            <a:ext cx="3429000" cy="152400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504825" y="1552575"/>
            <a:ext cx="228600" cy="228600"/>
          </a:xfrm>
          <a:prstGeom prst="ellipse">
            <a:avLst/>
          </a:prstGeom>
          <a:solidFill>
            <a:srgbClr val="4299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571500" y="155257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809625" y="1524000"/>
            <a:ext cx="285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2D374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Optimal SHAP Recovery</a:t>
            </a:r>
            <a:endParaRPr b="0" sz="1600">
              <a:solidFill>
                <a:srgbClr val="2D374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Weighting the training loss with the Shapley Kernel ensures mathematically optimal SHAP value recovery.</a:t>
            </a:r>
            <a:endParaRPr b="0" sz="12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504825" y="3267075"/>
            <a:ext cx="228600" cy="228600"/>
          </a:xfrm>
          <a:prstGeom prst="ellipse">
            <a:avLst/>
          </a:prstGeom>
          <a:solidFill>
            <a:srgbClr val="4299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71500" y="326707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809625" y="3238500"/>
            <a:ext cx="285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2D374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Weighting Distribution</a:t>
            </a:r>
            <a:endParaRPr b="0" sz="1600">
              <a:solidFill>
                <a:srgbClr val="2D374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High importance is placed on masking all or no features, with lower weights in the middle of the distribution.</a:t>
            </a:r>
            <a:endParaRPr b="0" sz="12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4191000" y="1333500"/>
            <a:ext cx="4572000" cy="323850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4381500" y="1476375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75">
                <a:solidFill>
                  <a:srgbClr val="A0AEC0"/>
                </a:solidFill>
                <a:latin typeface="Roboto Mono"/>
                <a:ea typeface="Roboto Mono"/>
                <a:cs typeface="Roboto Mono"/>
                <a:sym typeface="Roboto Mono"/>
              </a:rPr>
              <a:t>VISUAL PROOF: WEIGHTING FUNCTION</a:t>
            </a:r>
            <a:endParaRPr b="1" sz="775">
              <a:solidFill>
                <a:srgbClr val="A0AEC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4">
            <a:alphaModFix/>
          </a:blip>
          <a:srcRect b="-7405" l="-4549" r="-4538" t="-18524"/>
          <a:stretch/>
        </p:blipFill>
        <p:spPr>
          <a:xfrm>
            <a:off x="4191000" y="1333500"/>
            <a:ext cx="4572000" cy="3238500"/>
          </a:xfrm>
          <a:prstGeom prst="roundRect">
            <a:avLst>
              <a:gd fmla="val 3529" name="adj"/>
            </a:avLst>
          </a:prstGeom>
          <a:noFill/>
          <a:ln>
            <a:noFill/>
          </a:ln>
        </p:spPr>
      </p:pic>
      <p:sp>
        <p:nvSpPr>
          <p:cNvPr id="158" name="Google Shape;158;p19"/>
          <p:cNvSpPr/>
          <p:nvPr/>
        </p:nvSpPr>
        <p:spPr>
          <a:xfrm>
            <a:off x="4381500" y="1809750"/>
            <a:ext cx="4191000" cy="2571900"/>
          </a:xfrm>
          <a:prstGeom prst="roundRect">
            <a:avLst>
              <a:gd fmla="val 2962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A202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Full Pipeline Details</a:t>
            </a:r>
            <a:endParaRPr b="0" sz="2800">
              <a:solidFill>
                <a:srgbClr val="1A202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381000" y="1238250"/>
            <a:ext cx="3619500" cy="104790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523875" y="1428750"/>
            <a:ext cx="285900" cy="285900"/>
          </a:xfrm>
          <a:prstGeom prst="ellipse">
            <a:avLst/>
          </a:prstGeom>
          <a:solidFill>
            <a:srgbClr val="4299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523875" y="1428750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b="0" sz="14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952500" y="138112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2D374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Black-Box Training</a:t>
            </a:r>
            <a:endParaRPr b="0" sz="1600">
              <a:solidFill>
                <a:srgbClr val="2D374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Train the initial model on raw data to establish the target behavior.</a:t>
            </a:r>
            <a:endParaRPr b="0" sz="12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381000" y="2476500"/>
            <a:ext cx="3619500" cy="104790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523875" y="2667000"/>
            <a:ext cx="285900" cy="285900"/>
          </a:xfrm>
          <a:prstGeom prst="ellipse">
            <a:avLst/>
          </a:prstGeom>
          <a:solidFill>
            <a:srgbClr val="4299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523875" y="2667000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b="0" sz="14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952500" y="2619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2D374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Masked Surrogate</a:t>
            </a:r>
            <a:endParaRPr b="0" sz="1600">
              <a:solidFill>
                <a:srgbClr val="2D374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Create a surrogate to approximate behavior under feature hiding.</a:t>
            </a:r>
            <a:endParaRPr b="0" sz="12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381000" y="3714750"/>
            <a:ext cx="3619500" cy="104790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523875" y="3905250"/>
            <a:ext cx="285900" cy="285900"/>
          </a:xfrm>
          <a:prstGeom prst="ellipse">
            <a:avLst/>
          </a:prstGeom>
          <a:solidFill>
            <a:srgbClr val="4299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23875" y="3905250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b="0" sz="14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952500" y="385762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2D374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InstaSHAP Alignment</a:t>
            </a:r>
            <a:endParaRPr b="0" sz="1600">
              <a:solidFill>
                <a:srgbClr val="2D374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Train InstaSHAP against the surrogate's specific outputs.</a:t>
            </a:r>
            <a:endParaRPr b="0" sz="12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191000" y="1238250"/>
            <a:ext cx="4572000" cy="352440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4429125" y="142875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A0AEC0"/>
                </a:solidFill>
                <a:latin typeface="Roboto Mono"/>
                <a:ea typeface="Roboto Mono"/>
                <a:cs typeface="Roboto Mono"/>
                <a:sym typeface="Roboto Mono"/>
              </a:rPr>
              <a:t>PIPELINE ARCHITECTURE VISUALIZATION</a:t>
            </a:r>
            <a:endParaRPr b="1" sz="900">
              <a:solidFill>
                <a:srgbClr val="A0AEC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descr="A sophisticated 3D diagram showing a data pipeline. Three connected nodes representing 'Raw Data', 'Surrogate Model', and 'InstaSHAP Output'. Clean white background with blue glowing lines, professional tech aesthetic." id="178" name="Google Shape;178;p20"/>
          <p:cNvPicPr preferRelativeResize="0"/>
          <p:nvPr/>
        </p:nvPicPr>
        <p:blipFill rotWithShape="1">
          <a:blip r:embed="rId3">
            <a:alphaModFix/>
          </a:blip>
          <a:srcRect b="21876" l="0" r="0" t="1041"/>
          <a:stretch/>
        </p:blipFill>
        <p:spPr>
          <a:xfrm>
            <a:off x="4191000" y="1238250"/>
            <a:ext cx="4572000" cy="3524400"/>
          </a:xfrm>
          <a:prstGeom prst="roundRect">
            <a:avLst>
              <a:gd fmla="val 32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A202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Multiclass Benchmark Results</a:t>
            </a:r>
            <a:endParaRPr b="0" sz="2800">
              <a:solidFill>
                <a:srgbClr val="1A202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381000" y="1143000"/>
            <a:ext cx="4095900" cy="36195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619125" y="1381125"/>
            <a:ext cx="3619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32">
                <a:solidFill>
                  <a:srgbClr val="A0AEC0"/>
                </a:solidFill>
                <a:latin typeface="Roboto Mono"/>
                <a:ea typeface="Roboto Mono"/>
                <a:cs typeface="Roboto Mono"/>
                <a:sym typeface="Roboto Mono"/>
              </a:rPr>
              <a:t>PERFORMANCE METRICS</a:t>
            </a:r>
            <a:endParaRPr b="1" sz="832">
              <a:solidFill>
                <a:srgbClr val="A0AEC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186" name="Google Shape;186;p21"/>
          <p:cNvGrpSpPr/>
          <p:nvPr/>
        </p:nvGrpSpPr>
        <p:grpSpPr>
          <a:xfrm>
            <a:off x="619125" y="1714500"/>
            <a:ext cx="3619500" cy="1238400"/>
            <a:chOff x="619125" y="1714500"/>
            <a:chExt cx="3619500" cy="1238400"/>
          </a:xfrm>
        </p:grpSpPr>
        <p:pic>
          <p:nvPicPr>
            <p:cNvPr id="187" name="Google Shape;187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9125" y="1714500"/>
              <a:ext cx="3619500" cy="1238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21"/>
            <p:cNvSpPr txBox="1"/>
            <p:nvPr/>
          </p:nvSpPr>
          <p:spPr>
            <a:xfrm>
              <a:off x="809625" y="1857375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Adult Income</a:t>
              </a:r>
              <a:endParaRPr b="1" sz="140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4299E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84.00%</a:t>
              </a:r>
              <a:endParaRPr b="0" sz="3200">
                <a:solidFill>
                  <a:srgbClr val="4299E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Best Black-box Accuracy</a:t>
              </a:r>
              <a:endParaRPr b="0" sz="11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9" name="Google Shape;189;p21"/>
          <p:cNvGrpSpPr/>
          <p:nvPr/>
        </p:nvGrpSpPr>
        <p:grpSpPr>
          <a:xfrm>
            <a:off x="619125" y="3143250"/>
            <a:ext cx="3619500" cy="1238400"/>
            <a:chOff x="619125" y="3143250"/>
            <a:chExt cx="3619500" cy="1238400"/>
          </a:xfrm>
        </p:grpSpPr>
        <p:pic>
          <p:nvPicPr>
            <p:cNvPr id="190" name="Google Shape;19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9125" y="3143250"/>
              <a:ext cx="3619500" cy="1238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21"/>
            <p:cNvSpPr txBox="1"/>
            <p:nvPr/>
          </p:nvSpPr>
          <p:spPr>
            <a:xfrm>
              <a:off x="809625" y="3286125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Covertype</a:t>
              </a:r>
              <a:endParaRPr b="1" sz="140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4299E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69.13%</a:t>
              </a:r>
              <a:endParaRPr b="0" sz="3200">
                <a:solidFill>
                  <a:srgbClr val="4299E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Best GAM-2 Accuracy</a:t>
              </a:r>
              <a:endParaRPr b="0" sz="11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2" name="Google Shape;192;p21"/>
          <p:cNvSpPr/>
          <p:nvPr/>
        </p:nvSpPr>
        <p:spPr>
          <a:xfrm>
            <a:off x="4667250" y="1143000"/>
            <a:ext cx="4095900" cy="36195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4905375" y="1381125"/>
            <a:ext cx="3619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32">
                <a:solidFill>
                  <a:srgbClr val="A0AEC0"/>
                </a:solidFill>
                <a:latin typeface="Roboto Mono"/>
                <a:ea typeface="Roboto Mono"/>
                <a:cs typeface="Roboto Mono"/>
                <a:sym typeface="Roboto Mono"/>
              </a:rPr>
              <a:t>ACCURACY DISTRIBUTION: COVERTYPE</a:t>
            </a:r>
            <a:endParaRPr b="1" sz="832">
              <a:solidFill>
                <a:srgbClr val="A0AEC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194" name="Google Shape;194;p21"/>
          <p:cNvGrpSpPr/>
          <p:nvPr/>
        </p:nvGrpSpPr>
        <p:grpSpPr>
          <a:xfrm>
            <a:off x="5143500" y="1905000"/>
            <a:ext cx="2857500" cy="2476650"/>
            <a:chOff x="5143500" y="1905000"/>
            <a:chExt cx="2857500" cy="2476650"/>
          </a:xfrm>
        </p:grpSpPr>
        <p:pic>
          <p:nvPicPr>
            <p:cNvPr id="195" name="Google Shape;195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43500" y="1905000"/>
              <a:ext cx="571500" cy="20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1"/>
            <p:cNvSpPr/>
            <p:nvPr/>
          </p:nvSpPr>
          <p:spPr>
            <a:xfrm>
              <a:off x="5143500" y="2000250"/>
              <a:ext cx="571500" cy="2000100"/>
            </a:xfrm>
            <a:prstGeom prst="roundRect">
              <a:avLst>
                <a:gd fmla="val 6666" name="adj"/>
              </a:avLst>
            </a:prstGeom>
            <a:solidFill>
              <a:srgbClr val="CBD5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05500" y="1905000"/>
              <a:ext cx="571500" cy="20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21"/>
            <p:cNvSpPr/>
            <p:nvPr/>
          </p:nvSpPr>
          <p:spPr>
            <a:xfrm>
              <a:off x="5905500" y="1952625"/>
              <a:ext cx="571500" cy="2047800"/>
            </a:xfrm>
            <a:prstGeom prst="roundRect">
              <a:avLst>
                <a:gd fmla="val 6666" name="adj"/>
              </a:avLst>
            </a:prstGeom>
            <a:solidFill>
              <a:srgbClr val="7180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67500" y="1905000"/>
              <a:ext cx="571500" cy="20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21"/>
            <p:cNvSpPr/>
            <p:nvPr/>
          </p:nvSpPr>
          <p:spPr>
            <a:xfrm>
              <a:off x="6667500" y="2238375"/>
              <a:ext cx="571500" cy="1762200"/>
            </a:xfrm>
            <a:prstGeom prst="roundRect">
              <a:avLst>
                <a:gd fmla="val 6666" name="adj"/>
              </a:avLst>
            </a:prstGeom>
            <a:solidFill>
              <a:srgbClr val="4A556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1" name="Google Shape;201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29500" y="1905000"/>
              <a:ext cx="571500" cy="20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21"/>
            <p:cNvSpPr/>
            <p:nvPr/>
          </p:nvSpPr>
          <p:spPr>
            <a:xfrm>
              <a:off x="7429500" y="2381250"/>
              <a:ext cx="571500" cy="1619100"/>
            </a:xfrm>
            <a:prstGeom prst="roundRect">
              <a:avLst>
                <a:gd fmla="val 6666" name="adj"/>
              </a:avLst>
            </a:prstGeom>
            <a:solidFill>
              <a:srgbClr val="2D37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1"/>
            <p:cNvSpPr txBox="1"/>
            <p:nvPr/>
          </p:nvSpPr>
          <p:spPr>
            <a:xfrm>
              <a:off x="5143500" y="4095750"/>
              <a:ext cx="57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2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Blackbox</a:t>
              </a:r>
              <a:endParaRPr b="0" sz="832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04" name="Google Shape;204;p21"/>
            <p:cNvSpPr txBox="1"/>
            <p:nvPr/>
          </p:nvSpPr>
          <p:spPr>
            <a:xfrm>
              <a:off x="5905500" y="4095750"/>
              <a:ext cx="57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2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gam-1</a:t>
              </a:r>
              <a:endParaRPr b="0" sz="832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05" name="Google Shape;205;p21"/>
            <p:cNvSpPr txBox="1"/>
            <p:nvPr/>
          </p:nvSpPr>
          <p:spPr>
            <a:xfrm>
              <a:off x="6667500" y="4095750"/>
              <a:ext cx="57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2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gam-2</a:t>
              </a:r>
              <a:endParaRPr b="0" sz="832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06" name="Google Shape;206;p21"/>
            <p:cNvSpPr txBox="1"/>
            <p:nvPr/>
          </p:nvSpPr>
          <p:spPr>
            <a:xfrm>
              <a:off x="7429500" y="4095750"/>
              <a:ext cx="57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2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InstaSHAP</a:t>
              </a:r>
              <a:endParaRPr b="0" sz="832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descr="A minimalist, clean 3D icon of a bar chart or growth graph with blue glowing accents, professional tech style." id="207" name="Google Shape;20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190500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381000" y="142875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ter"/>
                <a:ea typeface="Inter"/>
                <a:cs typeface="Inter"/>
                <a:sym typeface="Inter"/>
              </a:rPr>
              <a:t>Base Model Architecture</a:t>
            </a:r>
            <a:endParaRPr b="1" sz="2400"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4" name="Google Shape;214;p22"/>
          <p:cNvGrpSpPr/>
          <p:nvPr/>
        </p:nvGrpSpPr>
        <p:grpSpPr>
          <a:xfrm>
            <a:off x="381000" y="1047750"/>
            <a:ext cx="4095900" cy="3619500"/>
            <a:chOff x="381000" y="1047750"/>
            <a:chExt cx="4095900" cy="3619500"/>
          </a:xfrm>
        </p:grpSpPr>
        <p:sp>
          <p:nvSpPr>
            <p:cNvPr id="215" name="Google Shape;215;p22"/>
            <p:cNvSpPr/>
            <p:nvPr/>
          </p:nvSpPr>
          <p:spPr>
            <a:xfrm>
              <a:off x="381000" y="1047750"/>
              <a:ext cx="40959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6" name="Google Shape;216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500" y="123825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22"/>
            <p:cNvSpPr txBox="1"/>
            <p:nvPr/>
          </p:nvSpPr>
          <p:spPr>
            <a:xfrm>
              <a:off x="714375" y="1238250"/>
              <a:ext cx="342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latin typeface="Inter"/>
                  <a:ea typeface="Inter"/>
                  <a:cs typeface="Inter"/>
                  <a:sym typeface="Inter"/>
                </a:rPr>
                <a:t>Multi-Layer Perceptron (MLP)</a:t>
              </a:r>
              <a:endParaRPr b="1" sz="14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8" name="Google Shape;218;p22"/>
            <p:cNvSpPr txBox="1"/>
            <p:nvPr/>
          </p:nvSpPr>
          <p:spPr>
            <a:xfrm>
              <a:off x="619125" y="1809750"/>
              <a:ext cx="3619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latin typeface="Inter SemiBold"/>
                  <a:ea typeface="Inter SemiBold"/>
                  <a:cs typeface="Inter SemiBold"/>
                  <a:sym typeface="Inter SemiBold"/>
                </a:rPr>
                <a:t>APPLICATION SCOPE</a:t>
              </a:r>
              <a:endParaRPr b="0" sz="1000"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19" name="Google Shape;219;p22"/>
            <p:cNvSpPr txBox="1"/>
            <p:nvPr/>
          </p:nvSpPr>
          <p:spPr>
            <a:xfrm>
              <a:off x="619125" y="2047875"/>
              <a:ext cx="361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latin typeface="Inter"/>
                  <a:ea typeface="Inter"/>
                  <a:cs typeface="Inter"/>
                  <a:sym typeface="Inter"/>
                </a:rPr>
                <a:t>Serves as the foundational architecture for both </a:t>
              </a:r>
              <a:r>
                <a:rPr b="1" lang="en" sz="1200">
                  <a:latin typeface="Inter"/>
                  <a:ea typeface="Inter"/>
                  <a:cs typeface="Inter"/>
                  <a:sym typeface="Inter"/>
                </a:rPr>
                <a:t>Black-box</a:t>
              </a:r>
              <a:r>
                <a:rPr b="0" lang="en" sz="1200"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lang="en" sz="1200">
                  <a:latin typeface="Inter"/>
                  <a:ea typeface="Inter"/>
                  <a:cs typeface="Inter"/>
                  <a:sym typeface="Inter"/>
                </a:rPr>
                <a:t>Surrogate</a:t>
              </a:r>
              <a:r>
                <a:rPr b="0" lang="en" sz="1200">
                  <a:latin typeface="Inter"/>
                  <a:ea typeface="Inter"/>
                  <a:cs typeface="Inter"/>
                  <a:sym typeface="Inter"/>
                </a:rPr>
                <a:t> modeling phases.</a:t>
              </a:r>
              <a:endParaRPr b="0" sz="12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0" name="Google Shape;220;p22"/>
            <p:cNvSpPr txBox="1"/>
            <p:nvPr/>
          </p:nvSpPr>
          <p:spPr>
            <a:xfrm>
              <a:off x="619125" y="2857500"/>
              <a:ext cx="3619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latin typeface="Inter SemiBold"/>
                  <a:ea typeface="Inter SemiBold"/>
                  <a:cs typeface="Inter SemiBold"/>
                  <a:sym typeface="Inter SemiBold"/>
                </a:rPr>
                <a:t>NETWORK DIMENSIONS</a:t>
              </a:r>
              <a:endParaRPr b="0" sz="1000"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619125" y="3143250"/>
              <a:ext cx="1143000" cy="476400"/>
            </a:xfrm>
            <a:prstGeom prst="roundRect">
              <a:avLst>
                <a:gd fmla="val 12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2"/>
            <p:cNvSpPr txBox="1"/>
            <p:nvPr/>
          </p:nvSpPr>
          <p:spPr>
            <a:xfrm>
              <a:off x="619125" y="3143250"/>
              <a:ext cx="114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Inter"/>
                  <a:ea typeface="Inter"/>
                  <a:cs typeface="Inter"/>
                  <a:sym typeface="Inter"/>
                </a:rPr>
                <a:t>256</a:t>
              </a:r>
              <a:endParaRPr b="1" sz="18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3" name="Google Shape;223;p22"/>
            <p:cNvSpPr/>
            <p:nvPr/>
          </p:nvSpPr>
          <p:spPr>
            <a:xfrm>
              <a:off x="1905000" y="3143250"/>
              <a:ext cx="1143000" cy="476400"/>
            </a:xfrm>
            <a:prstGeom prst="roundRect">
              <a:avLst>
                <a:gd fmla="val 12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2"/>
            <p:cNvSpPr txBox="1"/>
            <p:nvPr/>
          </p:nvSpPr>
          <p:spPr>
            <a:xfrm>
              <a:off x="1905000" y="3143250"/>
              <a:ext cx="114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Inter"/>
                  <a:ea typeface="Inter"/>
                  <a:cs typeface="Inter"/>
                  <a:sym typeface="Inter"/>
                </a:rPr>
                <a:t>128</a:t>
              </a:r>
              <a:endParaRPr b="1" sz="18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5" name="Google Shape;225;p22"/>
            <p:cNvSpPr txBox="1"/>
            <p:nvPr/>
          </p:nvSpPr>
          <p:spPr>
            <a:xfrm>
              <a:off x="619125" y="3667125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Two hidden layers with specified node counts.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6" name="Google Shape;226;p22"/>
          <p:cNvGrpSpPr/>
          <p:nvPr/>
        </p:nvGrpSpPr>
        <p:grpSpPr>
          <a:xfrm>
            <a:off x="4667250" y="1047750"/>
            <a:ext cx="4095900" cy="3619500"/>
            <a:chOff x="4667250" y="1047750"/>
            <a:chExt cx="4095900" cy="3619500"/>
          </a:xfrm>
        </p:grpSpPr>
        <p:sp>
          <p:nvSpPr>
            <p:cNvPr id="227" name="Google Shape;227;p22"/>
            <p:cNvSpPr/>
            <p:nvPr/>
          </p:nvSpPr>
          <p:spPr>
            <a:xfrm>
              <a:off x="4667250" y="1047750"/>
              <a:ext cx="40959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8" name="Google Shape;228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57750" y="123825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2"/>
            <p:cNvSpPr txBox="1"/>
            <p:nvPr/>
          </p:nvSpPr>
          <p:spPr>
            <a:xfrm>
              <a:off x="5000625" y="1238250"/>
              <a:ext cx="342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latin typeface="Inter"/>
                  <a:ea typeface="Inter"/>
                  <a:cs typeface="Inter"/>
                  <a:sym typeface="Inter"/>
                </a:rPr>
                <a:t>Training Objectives</a:t>
              </a:r>
              <a:endParaRPr b="1" sz="140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0" name="Google Shape;230;p22"/>
            <p:cNvSpPr txBox="1"/>
            <p:nvPr/>
          </p:nvSpPr>
          <p:spPr>
            <a:xfrm>
              <a:off x="4905375" y="1809750"/>
              <a:ext cx="3619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latin typeface="Inter SemiBold"/>
                  <a:ea typeface="Inter SemiBold"/>
                  <a:cs typeface="Inter SemiBold"/>
                  <a:sym typeface="Inter SemiBold"/>
                </a:rPr>
                <a:t>LOSS FUNCTIONS</a:t>
              </a:r>
              <a:endParaRPr b="0" sz="1000"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31" name="Google Shape;231;p22"/>
            <p:cNvGrpSpPr/>
            <p:nvPr/>
          </p:nvGrpSpPr>
          <p:grpSpPr>
            <a:xfrm>
              <a:off x="4905375" y="2143125"/>
              <a:ext cx="3619500" cy="571500"/>
              <a:chOff x="0" y="0"/>
              <a:chExt cx="3619500" cy="571500"/>
            </a:xfrm>
          </p:grpSpPr>
          <p:sp>
            <p:nvSpPr>
              <p:cNvPr id="232" name="Google Shape;232;p22"/>
              <p:cNvSpPr/>
              <p:nvPr/>
            </p:nvSpPr>
            <p:spPr>
              <a:xfrm>
                <a:off x="0" y="0"/>
                <a:ext cx="36195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2"/>
              <p:cNvSpPr txBox="1"/>
              <p:nvPr/>
            </p:nvSpPr>
            <p:spPr>
              <a:xfrm>
                <a:off x="142875" y="0"/>
                <a:ext cx="3333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latin typeface="Inter"/>
                    <a:ea typeface="Inter"/>
                    <a:cs typeface="Inter"/>
                    <a:sym typeface="Inter"/>
                  </a:rPr>
                  <a:t>Standard Cross-Entropy</a:t>
                </a:r>
                <a:endParaRPr b="0" sz="1200"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Primary for classification tasks.</a:t>
                </a:r>
                <a:endParaRPr b="0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4" name="Google Shape;234;p22"/>
            <p:cNvGrpSpPr/>
            <p:nvPr/>
          </p:nvGrpSpPr>
          <p:grpSpPr>
            <a:xfrm>
              <a:off x="4905375" y="2905125"/>
              <a:ext cx="3619500" cy="571500"/>
              <a:chOff x="0" y="0"/>
              <a:chExt cx="3619500" cy="571500"/>
            </a:xfrm>
          </p:grpSpPr>
          <p:sp>
            <p:nvSpPr>
              <p:cNvPr id="235" name="Google Shape;235;p22"/>
              <p:cNvSpPr/>
              <p:nvPr/>
            </p:nvSpPr>
            <p:spPr>
              <a:xfrm>
                <a:off x="0" y="0"/>
                <a:ext cx="36195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22"/>
              <p:cNvSpPr txBox="1"/>
              <p:nvPr/>
            </p:nvSpPr>
            <p:spPr>
              <a:xfrm>
                <a:off x="142875" y="0"/>
                <a:ext cx="3333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latin typeface="Inter"/>
                    <a:ea typeface="Inter"/>
                    <a:cs typeface="Inter"/>
                    <a:sym typeface="Inter"/>
                  </a:rPr>
                  <a:t>Mean Squared Error (MSE)</a:t>
                </a:r>
                <a:endParaRPr b="0" sz="1200"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Primary for regression tasks.</a:t>
                </a:r>
                <a:endParaRPr b="0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pic>
          <p:nvPicPr>
            <p:cNvPr descr="A clean, abstract 3D visualization of a mathematical loss surface with a blue gradient descent line, minimalist and high-tech style." id="237" name="Google Shape;237;p22"/>
            <p:cNvPicPr preferRelativeResize="0"/>
            <p:nvPr/>
          </p:nvPicPr>
          <p:blipFill rotWithShape="1">
            <a:blip r:embed="rId4">
              <a:alphaModFix/>
            </a:blip>
            <a:srcRect b="25000" l="0" r="0" t="25000"/>
            <a:stretch/>
          </p:blipFill>
          <p:spPr>
            <a:xfrm>
              <a:off x="6143625" y="3714750"/>
              <a:ext cx="1143000" cy="762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The Additive Network Trick</a:t>
            </a:r>
            <a:endParaRPr b="1" sz="28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13" y="985838"/>
            <a:ext cx="1362000" cy="28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" name="Google Shape;244;p23"/>
          <p:cNvGrpSpPr/>
          <p:nvPr/>
        </p:nvGrpSpPr>
        <p:grpSpPr>
          <a:xfrm>
            <a:off x="571500" y="1333500"/>
            <a:ext cx="3238500" cy="1476300"/>
            <a:chOff x="571500" y="1333500"/>
            <a:chExt cx="3238500" cy="1476300"/>
          </a:xfrm>
        </p:grpSpPr>
        <p:sp>
          <p:nvSpPr>
            <p:cNvPr id="245" name="Google Shape;245;p23"/>
            <p:cNvSpPr/>
            <p:nvPr/>
          </p:nvSpPr>
          <p:spPr>
            <a:xfrm>
              <a:off x="571500" y="1333500"/>
              <a:ext cx="3238500" cy="1476300"/>
            </a:xfrm>
            <a:prstGeom prst="roundRect">
              <a:avLst>
                <a:gd fmla="val 7741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6" name="Google Shape;246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1500" y="13335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23"/>
            <p:cNvSpPr txBox="1"/>
            <p:nvPr/>
          </p:nvSpPr>
          <p:spPr>
            <a:xfrm>
              <a:off x="714375" y="1381125"/>
              <a:ext cx="2952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COMPONENT ARCHITECTURE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3"/>
            <p:cNvSpPr txBox="1"/>
            <p:nvPr/>
          </p:nvSpPr>
          <p:spPr>
            <a:xfrm>
              <a:off x="762000" y="1857375"/>
              <a:ext cx="2857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80">
                  <a:solidFill>
                    <a:srgbClr val="283593"/>
                  </a:solidFill>
                  <a:latin typeface="Arial"/>
                  <a:ea typeface="Arial"/>
                  <a:cs typeface="Arial"/>
                  <a:sym typeface="Arial"/>
                </a:rPr>
                <a:t>Independent MLPs</a:t>
              </a:r>
              <a:endParaRPr b="0" sz="1480">
                <a:solidFill>
                  <a:srgbClr val="28359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455A64"/>
                  </a:solidFill>
                  <a:latin typeface="Arial"/>
                  <a:ea typeface="Arial"/>
                  <a:cs typeface="Arial"/>
                  <a:sym typeface="Arial"/>
                </a:rPr>
                <a:t>InstaSHAP uses dedicated ComponentMLPs [96, 64] for every single feature.</a:t>
              </a:r>
              <a:endParaRPr b="0" sz="1110">
                <a:solidFill>
                  <a:srgbClr val="455A6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p23"/>
          <p:cNvGrpSpPr/>
          <p:nvPr/>
        </p:nvGrpSpPr>
        <p:grpSpPr>
          <a:xfrm>
            <a:off x="571500" y="3095625"/>
            <a:ext cx="3238500" cy="1476300"/>
            <a:chOff x="571500" y="3095625"/>
            <a:chExt cx="3238500" cy="1476300"/>
          </a:xfrm>
        </p:grpSpPr>
        <p:sp>
          <p:nvSpPr>
            <p:cNvPr id="250" name="Google Shape;250;p23"/>
            <p:cNvSpPr/>
            <p:nvPr/>
          </p:nvSpPr>
          <p:spPr>
            <a:xfrm>
              <a:off x="571500" y="3095625"/>
              <a:ext cx="3238500" cy="1476300"/>
            </a:xfrm>
            <a:prstGeom prst="roundRect">
              <a:avLst>
                <a:gd fmla="val 7741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1" name="Google Shape;251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1500" y="309562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23"/>
            <p:cNvSpPr txBox="1"/>
            <p:nvPr/>
          </p:nvSpPr>
          <p:spPr>
            <a:xfrm>
              <a:off x="714375" y="3143250"/>
              <a:ext cx="2952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STRUCTURAL GUARANTEE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3"/>
            <p:cNvSpPr txBox="1"/>
            <p:nvPr/>
          </p:nvSpPr>
          <p:spPr>
            <a:xfrm>
              <a:off x="762000" y="3619500"/>
              <a:ext cx="2857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80">
                  <a:solidFill>
                    <a:srgbClr val="283593"/>
                  </a:solidFill>
                  <a:latin typeface="Arial"/>
                  <a:ea typeface="Arial"/>
                  <a:cs typeface="Arial"/>
                  <a:sym typeface="Arial"/>
                </a:rPr>
                <a:t>Additive by Design</a:t>
              </a:r>
              <a:endParaRPr b="0" sz="1480">
                <a:solidFill>
                  <a:srgbClr val="28359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455A64"/>
                  </a:solidFill>
                  <a:latin typeface="Arial"/>
                  <a:ea typeface="Arial"/>
                  <a:cs typeface="Arial"/>
                  <a:sym typeface="Arial"/>
                </a:rPr>
                <a:t>Outputs are directly summed, ensuring strict additivity and inherent interpretability.</a:t>
              </a:r>
              <a:endParaRPr b="0" sz="1110">
                <a:solidFill>
                  <a:srgbClr val="455A6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4" name="Google Shape;254;p23"/>
          <p:cNvSpPr/>
          <p:nvPr/>
        </p:nvSpPr>
        <p:spPr>
          <a:xfrm>
            <a:off x="4191000" y="1333500"/>
            <a:ext cx="4381500" cy="323850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23"/>
          <p:cNvPicPr preferRelativeResize="0"/>
          <p:nvPr/>
        </p:nvPicPr>
        <p:blipFill rotWithShape="1">
          <a:blip r:embed="rId7">
            <a:alphaModFix/>
          </a:blip>
          <a:srcRect b="-3124" l="-2269" r="-2279" t="-3124"/>
          <a:stretch/>
        </p:blipFill>
        <p:spPr>
          <a:xfrm>
            <a:off x="4191000" y="1333500"/>
            <a:ext cx="4381500" cy="3238500"/>
          </a:xfrm>
          <a:prstGeom prst="roundRect">
            <a:avLst>
              <a:gd fmla="val 352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381000" y="142875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Bike Sharing Dataset: Key Results</a:t>
            </a:r>
            <a:endParaRPr b="1" sz="2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381000" y="1047750"/>
            <a:ext cx="2571900" cy="171450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571500" y="1238250"/>
            <a:ext cx="2190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Black-Box Model</a:t>
            </a:r>
            <a:endParaRPr b="0" sz="1000">
              <a:solidFill>
                <a:srgbClr val="64748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571500" y="1476375"/>
            <a:ext cx="2190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38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204.85</a:t>
            </a:r>
            <a:endParaRPr b="0" sz="238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571500" y="1857375"/>
            <a:ext cx="2190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NMSE% (Baseline)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571500" y="2143125"/>
            <a:ext cx="2190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Standard MLP [256, 128] architecture.</a:t>
            </a:r>
            <a:endParaRPr b="0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3143250" y="1047750"/>
            <a:ext cx="2667000" cy="1714500"/>
          </a:xfrm>
          <a:prstGeom prst="roundRect">
            <a:avLst>
              <a:gd fmla="val 6666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3333750" y="123825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GAM-2 (Winner)</a:t>
            </a:r>
            <a:endParaRPr b="0" sz="1000">
              <a:solidFill>
                <a:srgbClr val="0369A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3333750" y="1476375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380">
                <a:solidFill>
                  <a:srgbClr val="0369A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187.43</a:t>
            </a:r>
            <a:endParaRPr b="0" sz="2380">
              <a:solidFill>
                <a:srgbClr val="0369A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3333750" y="1857375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Outperformed Black-box!</a:t>
            </a:r>
            <a:endParaRPr b="0" sz="1100">
              <a:solidFill>
                <a:srgbClr val="0369A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3333750" y="2143125"/>
            <a:ext cx="2286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Best performing model on the regression task.</a:t>
            </a:r>
            <a:endParaRPr b="0" sz="1200">
              <a:solidFill>
                <a:srgbClr val="0C4A6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6000750" y="1047750"/>
            <a:ext cx="2762400" cy="171450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6191250" y="123825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InstaSHAP</a:t>
            </a:r>
            <a:endParaRPr b="0" sz="1000">
              <a:solidFill>
                <a:srgbClr val="64748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6191250" y="1476375"/>
            <a:ext cx="2381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380">
                <a:solidFill>
                  <a:srgbClr val="47556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203.98</a:t>
            </a:r>
            <a:endParaRPr b="0" sz="2380">
              <a:solidFill>
                <a:srgbClr val="47556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6191250" y="1857375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NMSE% (Surrogate)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6191250" y="2143125"/>
            <a:ext cx="2381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Matches Black-box performance with ~1500x speed.</a:t>
            </a:r>
            <a:endParaRPr b="0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381000" y="2952750"/>
            <a:ext cx="8382000" cy="1905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571500" y="314325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Feature Analysis: Hour vs. Count</a:t>
            </a:r>
            <a:endParaRPr b="0" sz="1000">
              <a:solidFill>
                <a:srgbClr val="64748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79" name="Google Shape;2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429000"/>
            <a:ext cx="3810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4572000" y="3143250"/>
            <a:ext cx="4000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Observations:</a:t>
            </a:r>
            <a:endParaRPr b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b="0" lang="en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"Hour" feature shows significant interaction peaks during commute times.</a:t>
            </a:r>
            <a:endParaRPr b="0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45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b="0" lang="en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GAM-2 captures non-linear effects more efficiently than the standard MLP.</a:t>
            </a:r>
            <a:endParaRPr b="0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45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b="0" lang="en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InstaSHAP's additive structure allows for direct plotting of these interactions.</a:t>
            </a:r>
            <a:endParaRPr b="0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381000" y="142875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ter"/>
                <a:ea typeface="Inter"/>
                <a:cs typeface="Inter"/>
                <a:sym typeface="Inter"/>
              </a:rPr>
              <a:t>Native Interaction Visualization: Hour vs. Working Day</a:t>
            </a:r>
            <a:endParaRPr b="1"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381000" y="1047750"/>
            <a:ext cx="4191000" cy="3714900"/>
          </a:xfrm>
          <a:prstGeom prst="roundRect">
            <a:avLst>
              <a:gd fmla="val 30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571500" y="1190625"/>
            <a:ext cx="3810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latin typeface="Inter SemiBold"/>
                <a:ea typeface="Inter SemiBold"/>
                <a:cs typeface="Inter SemiBold"/>
                <a:sym typeface="Inter SemiBold"/>
              </a:rPr>
              <a:t>INTERACTION HEATMAP</a:t>
            </a:r>
            <a:endParaRPr b="0" sz="1000"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89" name="Google Shape;289;p25"/>
          <p:cNvPicPr preferRelativeResize="0"/>
          <p:nvPr/>
        </p:nvPicPr>
        <p:blipFill rotWithShape="1">
          <a:blip r:embed="rId3">
            <a:alphaModFix/>
          </a:blip>
          <a:srcRect b="-6449" l="-2378" r="-2389" t="-3224"/>
          <a:stretch/>
        </p:blipFill>
        <p:spPr>
          <a:xfrm>
            <a:off x="381000" y="1524000"/>
            <a:ext cx="4191000" cy="3238500"/>
          </a:xfrm>
          <a:prstGeom prst="roundRect">
            <a:avLst>
              <a:gd fmla="val 3529" name="adj"/>
            </a:avLst>
          </a:prstGeom>
          <a:noFill/>
          <a:ln>
            <a:noFill/>
          </a:ln>
        </p:spPr>
      </p:pic>
      <p:sp>
        <p:nvSpPr>
          <p:cNvPr id="290" name="Google Shape;290;p25"/>
          <p:cNvSpPr/>
          <p:nvPr/>
        </p:nvSpPr>
        <p:spPr>
          <a:xfrm>
            <a:off x="4762500" y="1047750"/>
            <a:ext cx="4000500" cy="104790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4953000" y="1190625"/>
            <a:ext cx="3619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0">
                <a:latin typeface="Inter"/>
                <a:ea typeface="Inter"/>
                <a:cs typeface="Inter"/>
                <a:sym typeface="Inter"/>
              </a:rPr>
              <a:t>Structural Advantage</a:t>
            </a:r>
            <a:endParaRPr b="1" sz="111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017">
                <a:latin typeface="Inter"/>
                <a:ea typeface="Inter"/>
                <a:cs typeface="Inter"/>
                <a:sym typeface="Inter"/>
              </a:rPr>
              <a:t>InstaSHAP's </a:t>
            </a:r>
            <a:r>
              <a:rPr b="1" lang="en" sz="1017">
                <a:latin typeface="Inter"/>
                <a:ea typeface="Inter"/>
                <a:cs typeface="Inter"/>
                <a:sym typeface="Inter"/>
              </a:rPr>
              <a:t>Additive Network Architecture</a:t>
            </a:r>
            <a:r>
              <a:rPr b="0" lang="en" sz="1017">
                <a:latin typeface="Inter"/>
                <a:ea typeface="Inter"/>
                <a:cs typeface="Inter"/>
                <a:sym typeface="Inter"/>
              </a:rPr>
              <a:t> allows for the decomposition of model predictions into local effects and interactions without expensive post-hoc sampling.</a:t>
            </a:r>
            <a:endParaRPr b="0" sz="101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4762500" y="2286000"/>
            <a:ext cx="4000500" cy="247650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4953000" y="2476500"/>
            <a:ext cx="36195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0">
                <a:latin typeface="Inter"/>
                <a:ea typeface="Inter"/>
                <a:cs typeface="Inter"/>
                <a:sym typeface="Inter"/>
              </a:rPr>
              <a:t>Key Observations</a:t>
            </a:r>
            <a:endParaRPr b="1" sz="1110">
              <a:latin typeface="Inter"/>
              <a:ea typeface="Inter"/>
              <a:cs typeface="Inter"/>
              <a:sym typeface="Inter"/>
            </a:endParaRPr>
          </a:p>
          <a:p>
            <a:pPr indent="-293211" lvl="0" marL="457200" rtl="0" algn="l">
              <a:spcBef>
                <a:spcPts val="900"/>
              </a:spcBef>
              <a:spcAft>
                <a:spcPts val="0"/>
              </a:spcAft>
              <a:buSzPts val="1018"/>
              <a:buFont typeface="Inter"/>
              <a:buChar char="●"/>
            </a:pPr>
            <a:r>
              <a:rPr b="1" lang="en" sz="1017">
                <a:latin typeface="Inter"/>
                <a:ea typeface="Inter"/>
                <a:cs typeface="Inter"/>
                <a:sym typeface="Inter"/>
              </a:rPr>
              <a:t>Commuter Peaks:</a:t>
            </a:r>
            <a:r>
              <a:rPr b="0" lang="en" sz="1017">
                <a:latin typeface="Inter"/>
                <a:ea typeface="Inter"/>
                <a:cs typeface="Inter"/>
                <a:sym typeface="Inter"/>
              </a:rPr>
              <a:t> Visualization reveals distinct high-usage spikes at 8 AM and 5 PM on working days.</a:t>
            </a:r>
            <a:endParaRPr b="0" sz="1017">
              <a:latin typeface="Inter"/>
              <a:ea typeface="Inter"/>
              <a:cs typeface="Inter"/>
              <a:sym typeface="Inter"/>
            </a:endParaRPr>
          </a:p>
          <a:p>
            <a:pPr indent="-293211" lvl="0" marL="457200" rtl="0" algn="l">
              <a:spcBef>
                <a:spcPts val="900"/>
              </a:spcBef>
              <a:spcAft>
                <a:spcPts val="0"/>
              </a:spcAft>
              <a:buSzPts val="1018"/>
              <a:buFont typeface="Inter"/>
              <a:buChar char="●"/>
            </a:pPr>
            <a:r>
              <a:rPr b="1" lang="en" sz="1017">
                <a:latin typeface="Inter"/>
                <a:ea typeface="Inter"/>
                <a:cs typeface="Inter"/>
                <a:sym typeface="Inter"/>
              </a:rPr>
              <a:t>Weekend Variance:</a:t>
            </a:r>
            <a:r>
              <a:rPr b="0" lang="en" sz="1017">
                <a:latin typeface="Inter"/>
                <a:ea typeface="Inter"/>
                <a:cs typeface="Inter"/>
                <a:sym typeface="Inter"/>
              </a:rPr>
              <a:t> Interaction effects shift to mid-day (11 AM - 3 PM) during non-working days.</a:t>
            </a:r>
            <a:endParaRPr b="0" sz="1017">
              <a:latin typeface="Inter"/>
              <a:ea typeface="Inter"/>
              <a:cs typeface="Inter"/>
              <a:sym typeface="Inter"/>
            </a:endParaRPr>
          </a:p>
          <a:p>
            <a:pPr indent="-293211" lvl="0" marL="457200" rtl="0" algn="l">
              <a:spcBef>
                <a:spcPts val="900"/>
              </a:spcBef>
              <a:spcAft>
                <a:spcPts val="0"/>
              </a:spcAft>
              <a:buSzPts val="1018"/>
              <a:buFont typeface="Inter"/>
              <a:buChar char="●"/>
            </a:pPr>
            <a:r>
              <a:rPr b="1" lang="en" sz="1017">
                <a:latin typeface="Inter"/>
                <a:ea typeface="Inter"/>
                <a:cs typeface="Inter"/>
                <a:sym typeface="Inter"/>
              </a:rPr>
              <a:t>Latency:</a:t>
            </a:r>
            <a:r>
              <a:rPr b="0" lang="en" sz="1017">
                <a:latin typeface="Inter"/>
                <a:ea typeface="Inter"/>
                <a:cs typeface="Inter"/>
                <a:sym typeface="Inter"/>
              </a:rPr>
              <a:t> Because effects are "read out" from weights, plotting is instantaneous (~0.008s).</a:t>
            </a:r>
            <a:endParaRPr b="0" sz="1017">
              <a:latin typeface="Inter"/>
              <a:ea typeface="Inter"/>
              <a:cs typeface="Inter"/>
              <a:sym typeface="Inter"/>
            </a:endParaRPr>
          </a:p>
          <a:p>
            <a:pPr indent="-293211" lvl="0" marL="457200" rtl="0" algn="l">
              <a:spcBef>
                <a:spcPts val="900"/>
              </a:spcBef>
              <a:spcAft>
                <a:spcPts val="0"/>
              </a:spcAft>
              <a:buSzPts val="1018"/>
              <a:buFont typeface="Inter"/>
              <a:buChar char="●"/>
            </a:pPr>
            <a:r>
              <a:rPr b="1" lang="en" sz="1017">
                <a:latin typeface="Inter"/>
                <a:ea typeface="Inter"/>
                <a:cs typeface="Inter"/>
                <a:sym typeface="Inter"/>
              </a:rPr>
              <a:t>Granularity:</a:t>
            </a:r>
            <a:r>
              <a:rPr b="0" lang="en" sz="1017">
                <a:latin typeface="Inter"/>
                <a:ea typeface="Inter"/>
                <a:cs typeface="Inter"/>
                <a:sym typeface="Inter"/>
              </a:rPr>
              <a:t> Captures non-linear nuances that global feature importance scores often miss.</a:t>
            </a:r>
            <a:endParaRPr b="0" sz="1017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6"/>
          <p:cNvSpPr txBox="1"/>
          <p:nvPr/>
        </p:nvSpPr>
        <p:spPr>
          <a:xfrm>
            <a:off x="381000" y="190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2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Explanation Fidelity: Performance &amp; Accuracy</a:t>
            </a:r>
            <a:endParaRPr b="1" sz="2720">
              <a:solidFill>
                <a:srgbClr val="1A20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9" name="Google Shape;29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225" y="885825"/>
            <a:ext cx="4019700" cy="13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6"/>
          <p:cNvSpPr txBox="1"/>
          <p:nvPr/>
        </p:nvSpPr>
        <p:spPr>
          <a:xfrm>
            <a:off x="571500" y="1095375"/>
            <a:ext cx="3429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2D374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Computational Speed</a:t>
            </a:r>
            <a:endParaRPr b="0" sz="1600">
              <a:solidFill>
                <a:srgbClr val="2D374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01" name="Google Shape;301;p26"/>
          <p:cNvSpPr txBox="1"/>
          <p:nvPr/>
        </p:nvSpPr>
        <p:spPr>
          <a:xfrm>
            <a:off x="571500" y="1428750"/>
            <a:ext cx="161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25">
                <a:solidFill>
                  <a:srgbClr val="718096"/>
                </a:solidFill>
                <a:latin typeface="Inter Medium"/>
                <a:ea typeface="Inter Medium"/>
                <a:cs typeface="Inter Medium"/>
                <a:sym typeface="Inter Medium"/>
              </a:rPr>
              <a:t>Permutation SHAP</a:t>
            </a:r>
            <a:endParaRPr b="0" sz="925">
              <a:solidFill>
                <a:srgbClr val="718096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12.69s</a:t>
            </a:r>
            <a:endParaRPr b="0" sz="1600">
              <a:solidFill>
                <a:srgbClr val="A0AEC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02" name="Google Shape;302;p26"/>
          <p:cNvSpPr txBox="1"/>
          <p:nvPr/>
        </p:nvSpPr>
        <p:spPr>
          <a:xfrm>
            <a:off x="2286000" y="1428750"/>
            <a:ext cx="161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25">
                <a:solidFill>
                  <a:srgbClr val="718096"/>
                </a:solidFill>
                <a:latin typeface="Inter Medium"/>
                <a:ea typeface="Inter Medium"/>
                <a:cs typeface="Inter Medium"/>
                <a:sym typeface="Inter Medium"/>
              </a:rPr>
              <a:t>InstaSHAP</a:t>
            </a:r>
            <a:endParaRPr b="0" sz="925">
              <a:solidFill>
                <a:srgbClr val="718096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90">
                <a:solidFill>
                  <a:srgbClr val="2B6CB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0.008s</a:t>
            </a:r>
            <a:endParaRPr b="0" sz="2590">
              <a:solidFill>
                <a:srgbClr val="2B6CB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03" name="Google Shape;30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938" y="2157413"/>
            <a:ext cx="4048200" cy="13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571500" y="2381250"/>
            <a:ext cx="3429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~1500x FASTER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EBF8FF"/>
                </a:solidFill>
                <a:latin typeface="Inter"/>
                <a:ea typeface="Inter"/>
                <a:cs typeface="Inter"/>
                <a:sym typeface="Inter"/>
              </a:rPr>
              <a:t>InstaSHAP provides near-instantaneous computation compared to traditional methods.</a:t>
            </a:r>
            <a:endParaRPr b="0" sz="1100">
              <a:solidFill>
                <a:srgbClr val="EBF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5" name="Google Shape;305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6225" y="3457575"/>
            <a:ext cx="40197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6"/>
          <p:cNvSpPr txBox="1"/>
          <p:nvPr/>
        </p:nvSpPr>
        <p:spPr>
          <a:xfrm>
            <a:off x="571500" y="3667125"/>
            <a:ext cx="3429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2D374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Approximation Error</a:t>
            </a:r>
            <a:endParaRPr b="0" sz="1600">
              <a:solidFill>
                <a:srgbClr val="2D374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07" name="Google Shape;307;p26"/>
          <p:cNvSpPr txBox="1"/>
          <p:nvPr/>
        </p:nvSpPr>
        <p:spPr>
          <a:xfrm>
            <a:off x="571500" y="4000500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25">
                <a:solidFill>
                  <a:srgbClr val="718096"/>
                </a:solidFill>
                <a:latin typeface="Inter Medium"/>
                <a:ea typeface="Inter Medium"/>
                <a:cs typeface="Inter Medium"/>
                <a:sym typeface="Inter Medium"/>
              </a:rPr>
              <a:t>SHAP vs InstaSHAP MAE</a:t>
            </a:r>
            <a:endParaRPr b="0" sz="925">
              <a:solidFill>
                <a:srgbClr val="718096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90">
                <a:solidFill>
                  <a:srgbClr val="C5303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0.5427</a:t>
            </a:r>
            <a:endParaRPr b="0" sz="2590">
              <a:solidFill>
                <a:srgbClr val="C5303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08" name="Google Shape;308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67225" y="885825"/>
            <a:ext cx="4400700" cy="40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 txBox="1"/>
          <p:nvPr/>
        </p:nvSpPr>
        <p:spPr>
          <a:xfrm>
            <a:off x="4762500" y="1095375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2D374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Feature Alignment (Bike Sharing)</a:t>
            </a:r>
            <a:endParaRPr b="0" sz="1600">
              <a:solidFill>
                <a:srgbClr val="2D374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310" name="Google Shape;310;p26"/>
          <p:cNvPicPr preferRelativeResize="0"/>
          <p:nvPr/>
        </p:nvPicPr>
        <p:blipFill rotWithShape="1">
          <a:blip r:embed="rId9">
            <a:alphaModFix/>
          </a:blip>
          <a:srcRect b="0" l="-5005" r="-4994" t="-4613"/>
          <a:stretch/>
        </p:blipFill>
        <p:spPr>
          <a:xfrm>
            <a:off x="4572000" y="1333500"/>
            <a:ext cx="4191000" cy="3238500"/>
          </a:xfrm>
          <a:prstGeom prst="roundRect">
            <a:avLst>
              <a:gd fmla="val 3529" name="adj"/>
            </a:avLst>
          </a:prstGeom>
          <a:noFill/>
          <a:ln>
            <a:noFill/>
          </a:ln>
        </p:spPr>
      </p:pic>
      <p:sp>
        <p:nvSpPr>
          <p:cNvPr id="311" name="Google Shape;311;p26"/>
          <p:cNvSpPr/>
          <p:nvPr/>
        </p:nvSpPr>
        <p:spPr>
          <a:xfrm>
            <a:off x="4762500" y="1476375"/>
            <a:ext cx="3810000" cy="3095700"/>
          </a:xfrm>
          <a:prstGeom prst="roundRect">
            <a:avLst>
              <a:gd fmla="val 3692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381000" y="142875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Conclusion &amp; Summary</a:t>
            </a:r>
            <a:endParaRPr b="1" sz="2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18" name="Google Shape;318;p27"/>
          <p:cNvGrpSpPr/>
          <p:nvPr/>
        </p:nvGrpSpPr>
        <p:grpSpPr>
          <a:xfrm>
            <a:off x="571500" y="1143000"/>
            <a:ext cx="2476500" cy="3238500"/>
            <a:chOff x="571500" y="1143000"/>
            <a:chExt cx="2476500" cy="3238500"/>
          </a:xfrm>
        </p:grpSpPr>
        <p:sp>
          <p:nvSpPr>
            <p:cNvPr id="319" name="Google Shape;319;p27"/>
            <p:cNvSpPr/>
            <p:nvPr/>
          </p:nvSpPr>
          <p:spPr>
            <a:xfrm>
              <a:off x="571500" y="114300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7"/>
            <p:cNvSpPr txBox="1"/>
            <p:nvPr/>
          </p:nvSpPr>
          <p:spPr>
            <a:xfrm>
              <a:off x="809625" y="1469644"/>
              <a:ext cx="2000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38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21" name="Google Shape;321;p27"/>
            <p:cNvSpPr txBox="1"/>
            <p:nvPr/>
          </p:nvSpPr>
          <p:spPr>
            <a:xfrm>
              <a:off x="809625" y="190500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Objectives Met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2" name="Google Shape;322;p27"/>
            <p:cNvSpPr txBox="1"/>
            <p:nvPr/>
          </p:nvSpPr>
          <p:spPr>
            <a:xfrm>
              <a:off x="809625" y="2286000"/>
              <a:ext cx="20001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Successfully reproduced InstaSHAP results across diverse datasets: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Bike Sharing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Covertype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Adult Income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3" name="Google Shape;323;p27"/>
          <p:cNvGrpSpPr/>
          <p:nvPr/>
        </p:nvGrpSpPr>
        <p:grpSpPr>
          <a:xfrm>
            <a:off x="3333750" y="1143000"/>
            <a:ext cx="2476500" cy="3238500"/>
            <a:chOff x="3333750" y="1143000"/>
            <a:chExt cx="2476500" cy="3238500"/>
          </a:xfrm>
        </p:grpSpPr>
        <p:sp>
          <p:nvSpPr>
            <p:cNvPr id="324" name="Google Shape;324;p27"/>
            <p:cNvSpPr/>
            <p:nvPr/>
          </p:nvSpPr>
          <p:spPr>
            <a:xfrm>
              <a:off x="3333750" y="114300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7"/>
            <p:cNvSpPr txBox="1"/>
            <p:nvPr/>
          </p:nvSpPr>
          <p:spPr>
            <a:xfrm>
              <a:off x="3571875" y="1469644"/>
              <a:ext cx="2000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238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26" name="Google Shape;326;p27"/>
            <p:cNvSpPr txBox="1"/>
            <p:nvPr/>
          </p:nvSpPr>
          <p:spPr>
            <a:xfrm>
              <a:off x="3571875" y="190500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Native Attribution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7" name="Google Shape;327;p27"/>
            <p:cNvSpPr txBox="1"/>
            <p:nvPr/>
          </p:nvSpPr>
          <p:spPr>
            <a:xfrm>
              <a:off x="3571875" y="2286000"/>
              <a:ext cx="20001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Trained additive models read out </a:t>
              </a:r>
              <a:r>
                <a:rPr b="1" lang="en" sz="12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SHAP-like attributions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natively from model weights.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Eliminates the need for expensive post-hoc sampling.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8" name="Google Shape;328;p27"/>
          <p:cNvGrpSpPr/>
          <p:nvPr/>
        </p:nvGrpSpPr>
        <p:grpSpPr>
          <a:xfrm>
            <a:off x="6096000" y="1143000"/>
            <a:ext cx="2476500" cy="3238500"/>
            <a:chOff x="6096000" y="1143000"/>
            <a:chExt cx="2476500" cy="3238500"/>
          </a:xfrm>
        </p:grpSpPr>
        <p:sp>
          <p:nvSpPr>
            <p:cNvPr id="329" name="Google Shape;329;p27"/>
            <p:cNvSpPr/>
            <p:nvPr/>
          </p:nvSpPr>
          <p:spPr>
            <a:xfrm>
              <a:off x="6096000" y="114300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7"/>
            <p:cNvSpPr txBox="1"/>
            <p:nvPr/>
          </p:nvSpPr>
          <p:spPr>
            <a:xfrm>
              <a:off x="6334125" y="1469644"/>
              <a:ext cx="2000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238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31" name="Google Shape;331;p27"/>
            <p:cNvSpPr txBox="1"/>
            <p:nvPr/>
          </p:nvSpPr>
          <p:spPr>
            <a:xfrm>
              <a:off x="6334125" y="190500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Production Ready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2" name="Google Shape;332;p27"/>
            <p:cNvSpPr txBox="1"/>
            <p:nvPr/>
          </p:nvSpPr>
          <p:spPr>
            <a:xfrm>
              <a:off x="6334125" y="2286000"/>
              <a:ext cx="20001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Unlocks </a:t>
              </a:r>
              <a:r>
                <a:rPr b="1" lang="en" sz="12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Explainable AI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for high-stakes, low-latency production pipelines.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Achieves near-instantaneous explanation (~0.008s).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Subtle abstract blue tech pattern, connecting dots and lines, fade to white, very clean." id="333" name="Google Shape;3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